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7" autoAdjust="0"/>
    <p:restoredTop sz="94626" autoAdjust="0"/>
  </p:normalViewPr>
  <p:slideViewPr>
    <p:cSldViewPr showGuides="1">
      <p:cViewPr varScale="1">
        <p:scale>
          <a:sx n="52" d="100"/>
          <a:sy n="52" d="100"/>
        </p:scale>
        <p:origin x="82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9714" y="5143500"/>
            <a:ext cx="17328573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" name="AutoShape 3"/>
          <p:cNvSpPr/>
          <p:nvPr/>
        </p:nvSpPr>
        <p:spPr>
          <a:xfrm>
            <a:off x="479714" y="484476"/>
            <a:ext cx="17328573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4" name="AutoShape 4"/>
          <p:cNvSpPr/>
          <p:nvPr/>
        </p:nvSpPr>
        <p:spPr>
          <a:xfrm>
            <a:off x="479714" y="9802524"/>
            <a:ext cx="17328573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Box 5"/>
          <p:cNvSpPr txBox="1"/>
          <p:nvPr/>
        </p:nvSpPr>
        <p:spPr>
          <a:xfrm>
            <a:off x="479714" y="739443"/>
            <a:ext cx="17328573" cy="212344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16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800" b="0" i="0" u="none" strike="noStrike" kern="1200" cap="none" spc="-86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itchFamily="2" charset="0"/>
                <a:ea typeface="Aileron"/>
                <a:cs typeface="Aileron"/>
                <a:sym typeface="Aileron"/>
              </a:rPr>
              <a:t>Resource Impact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49432" y="8681738"/>
            <a:ext cx="5394168" cy="680415"/>
            <a:chOff x="0" y="-28575"/>
            <a:chExt cx="3917067" cy="907221"/>
          </a:xfrm>
        </p:grpSpPr>
        <p:sp>
          <p:nvSpPr>
            <p:cNvPr id="7" name="TextBox 7"/>
            <p:cNvSpPr txBox="1"/>
            <p:nvPr/>
          </p:nvSpPr>
          <p:spPr>
            <a:xfrm>
              <a:off x="0" y="-28575"/>
              <a:ext cx="3917067" cy="450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73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100" b="0" i="0" u="none" strike="noStrike" kern="1200" cap="none" spc="4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ileron Bold"/>
                  <a:ea typeface="Aileron Bold"/>
                  <a:cs typeface="Aileron Bold"/>
                  <a:sym typeface="Aileron Bold"/>
                </a:rPr>
                <a:t>Presented To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02474"/>
              <a:ext cx="3917067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34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mo"/>
                  <a:ea typeface="Arimo"/>
                  <a:cs typeface="Arimo"/>
                  <a:sym typeface="Arimo"/>
                </a:rPr>
                <a:t>Head of Sales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40245" y="8681738"/>
            <a:ext cx="6247155" cy="680413"/>
            <a:chOff x="0" y="-28575"/>
            <a:chExt cx="8329541" cy="90721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28575"/>
              <a:ext cx="3920095" cy="450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73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100" b="0" i="0" u="none" strike="noStrike" kern="1200" cap="none" spc="4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ileron Bold"/>
                  <a:ea typeface="Aileron Bold"/>
                  <a:cs typeface="Aileron Bold"/>
                  <a:sym typeface="Aileron Bold"/>
                </a:rPr>
                <a:t>Presented By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02472"/>
              <a:ext cx="8329541" cy="3761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34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mo"/>
                  <a:ea typeface="Arimo"/>
                  <a:cs typeface="Arimo"/>
                  <a:sym typeface="Arimo"/>
                </a:rPr>
                <a:t>Musawakhe Andrew Nzama – Financial Data Analysts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9432" y="5558187"/>
            <a:ext cx="4936968" cy="621965"/>
            <a:chOff x="0" y="-57149"/>
            <a:chExt cx="4261646" cy="829288"/>
          </a:xfrm>
        </p:grpSpPr>
        <p:sp>
          <p:nvSpPr>
            <p:cNvPr id="13" name="TextBox 13"/>
            <p:cNvSpPr txBox="1"/>
            <p:nvPr/>
          </p:nvSpPr>
          <p:spPr>
            <a:xfrm>
              <a:off x="593633" y="-57149"/>
              <a:ext cx="3668013" cy="829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52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Bright Car Dealership Analysis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358074" cy="358074"/>
            </a:xfrm>
            <a:custGeom>
              <a:avLst/>
              <a:gdLst/>
              <a:ahLst/>
              <a:cxnLst/>
              <a:rect l="l" t="t" r="r" b="b"/>
              <a:pathLst>
                <a:path w="358074" h="358074">
                  <a:moveTo>
                    <a:pt x="0" y="0"/>
                  </a:moveTo>
                  <a:lnTo>
                    <a:pt x="358074" y="0"/>
                  </a:lnTo>
                  <a:lnTo>
                    <a:pt x="358074" y="358074"/>
                  </a:lnTo>
                  <a:lnTo>
                    <a:pt x="0" y="358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859000" y="5554800"/>
            <a:ext cx="2949286" cy="629608"/>
            <a:chOff x="0" y="0"/>
            <a:chExt cx="584991" cy="16582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4991" cy="165823"/>
            </a:xfrm>
            <a:custGeom>
              <a:avLst/>
              <a:gdLst/>
              <a:ahLst/>
              <a:cxnLst/>
              <a:rect l="l" t="t" r="r" b="b"/>
              <a:pathLst>
                <a:path w="584991" h="165823">
                  <a:moveTo>
                    <a:pt x="82911" y="0"/>
                  </a:moveTo>
                  <a:lnTo>
                    <a:pt x="502080" y="0"/>
                  </a:lnTo>
                  <a:cubicBezTo>
                    <a:pt x="547870" y="0"/>
                    <a:pt x="584991" y="37121"/>
                    <a:pt x="584991" y="82911"/>
                  </a:cubicBezTo>
                  <a:lnTo>
                    <a:pt x="584991" y="82911"/>
                  </a:lnTo>
                  <a:cubicBezTo>
                    <a:pt x="584991" y="128702"/>
                    <a:pt x="547870" y="165823"/>
                    <a:pt x="502080" y="165823"/>
                  </a:cubicBezTo>
                  <a:lnTo>
                    <a:pt x="82911" y="165823"/>
                  </a:lnTo>
                  <a:cubicBezTo>
                    <a:pt x="37121" y="165823"/>
                    <a:pt x="0" y="128702"/>
                    <a:pt x="0" y="82911"/>
                  </a:cubicBezTo>
                  <a:lnTo>
                    <a:pt x="0" y="82911"/>
                  </a:lnTo>
                  <a:cubicBezTo>
                    <a:pt x="0" y="37121"/>
                    <a:pt x="37121" y="0"/>
                    <a:pt x="82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84991" cy="213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mo"/>
                  <a:ea typeface="Arimo"/>
                  <a:cs typeface="Arimo"/>
                  <a:sym typeface="Arimo"/>
                </a:rPr>
                <a:t>2025-11-16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/>
          <p:cNvSpPr/>
          <p:nvPr/>
        </p:nvSpPr>
        <p:spPr>
          <a:xfrm>
            <a:off x="6732777" y="1650865"/>
            <a:ext cx="10612248" cy="7988412"/>
          </a:xfrm>
          <a:custGeom>
            <a:avLst/>
            <a:gdLst/>
            <a:ahLst/>
            <a:cxnLst/>
            <a:rect l="l" t="t" r="r" b="b"/>
            <a:pathLst>
              <a:path w="2221939" h="2149447">
                <a:moveTo>
                  <a:pt x="0" y="0"/>
                </a:moveTo>
                <a:lnTo>
                  <a:pt x="2221939" y="0"/>
                </a:lnTo>
                <a:lnTo>
                  <a:pt x="2221939" y="2149447"/>
                </a:lnTo>
                <a:lnTo>
                  <a:pt x="0" y="2149447"/>
                </a:lnTo>
                <a:close/>
              </a:path>
            </a:pathLst>
          </a:custGeom>
          <a:solidFill>
            <a:srgbClr val="F4F4F4"/>
          </a:solidFill>
        </p:spPr>
        <p:txBody>
          <a:bodyPr/>
          <a:lstStyle/>
          <a:p>
            <a:endParaRPr lang="en-ZA"/>
          </a:p>
        </p:txBody>
      </p:sp>
      <p:sp>
        <p:nvSpPr>
          <p:cNvPr id="10" name="圆角矩形" descr="{CG[1].image}"/>
          <p:cNvSpPr/>
          <p:nvPr/>
        </p:nvSpPr>
        <p:spPr>
          <a:xfrm>
            <a:off x="7113003" y="2028007"/>
            <a:ext cx="9727197" cy="72028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479714" y="484476"/>
            <a:ext cx="17328573" cy="0"/>
          </a:xfrm>
          <a:prstGeom prst="line">
            <a:avLst/>
          </a:prstGeom>
          <a:ln w="9525" cap="flat">
            <a:solidFill>
              <a:srgbClr val="AAAAA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" name="AutoShape 3"/>
          <p:cNvSpPr/>
          <p:nvPr/>
        </p:nvSpPr>
        <p:spPr>
          <a:xfrm>
            <a:off x="479714" y="9812049"/>
            <a:ext cx="17328573" cy="0"/>
          </a:xfrm>
          <a:prstGeom prst="line">
            <a:avLst/>
          </a:prstGeom>
          <a:ln w="9525" cap="flat">
            <a:solidFill>
              <a:srgbClr val="AAAAA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4" name="{Paragraph_title}"/>
          <p:cNvSpPr txBox="1"/>
          <p:nvPr/>
        </p:nvSpPr>
        <p:spPr>
          <a:xfrm>
            <a:off x="1020536" y="1081855"/>
            <a:ext cx="5101714" cy="569387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spAutoFit/>
          </a:bodyPr>
          <a:lstStyle>
            <a:lvl1pPr algn="l">
              <a:defRPr sz="4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200" kern="0" dirty="0">
                <a:solidFill>
                  <a:srgbClr val="0048E8"/>
                </a:solidFill>
                <a:latin typeface="Avenir Heavy" pitchFamily="2" charset="0"/>
                <a:ea typeface="Helvetica Neue"/>
                <a:cs typeface="Helvetica Neue"/>
              </a:rPr>
              <a:t>Cross-Phase Resource Sharing Impact</a:t>
            </a:r>
            <a:endParaRPr sz="3200" kern="0" dirty="0">
              <a:solidFill>
                <a:srgbClr val="0048E8"/>
              </a:solidFill>
              <a:latin typeface="Avenir Heavy" pitchFamily="2" charset="0"/>
              <a:ea typeface="Helvetica Neue"/>
              <a:cs typeface="Helvetica Neue"/>
            </a:endParaRPr>
          </a:p>
        </p:txBody>
      </p:sp>
      <p:sp>
        <p:nvSpPr>
          <p:cNvPr id="15" name="{Paragraph_content}"/>
          <p:cNvSpPr txBox="1"/>
          <p:nvPr/>
        </p:nvSpPr>
        <p:spPr>
          <a:xfrm>
            <a:off x="999229" y="2904359"/>
            <a:ext cx="4949314" cy="524759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Avenir Book" pitchFamily="2" charset="0"/>
                <a:ea typeface="Helvetica Neue"/>
                <a:cs typeface="Helvetica Neue"/>
                <a:sym typeface="Helvetica Neue"/>
              </a:rPr>
              <a:t>Cross-phase resource sharing in the compressed 10-day timeline creates exponential delay amplification, where each phase overlap conflict multiplies risk by 2.3x. The critical vulnerability emerges from 85% resource contention between Data Cleaning and SQL Analysis phases, where the same analysts must handle both tasks. Sequential dependency chains amplify single-day delays into 3-5 day project overruns due to insufficient buffer allocation.</a:t>
            </a: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tx1">
                  <a:lumMod val="95000"/>
                  <a:lumOff val="5000"/>
                </a:schemeClr>
              </a:solidFill>
              <a:latin typeface="Avenir Book" pitchFamily="2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{Chart_title}"/>
          <p:cNvSpPr txBox="1"/>
          <p:nvPr/>
        </p:nvSpPr>
        <p:spPr>
          <a:xfrm>
            <a:off x="6732777" y="1056187"/>
            <a:ext cx="10433998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rgbClr val="0048E8"/>
                </a:solidFill>
                <a:latin typeface="Avenir Book" pitchFamily="2" charset="0"/>
                <a:ea typeface="Helvetica Neue"/>
                <a:cs typeface="Helvetica Neue"/>
              </a:rPr>
              <a:t>Cross-Phase Resource Sharing Risk Amplification</a:t>
            </a:r>
            <a:endParaRPr sz="2100" kern="0" dirty="0">
              <a:solidFill>
                <a:srgbClr val="0048E8"/>
              </a:solidFill>
              <a:latin typeface="Avenir Book" pitchFamily="2" charset="0"/>
              <a:ea typeface="Helvetica Neue"/>
              <a:cs typeface="Helvetica Neue"/>
            </a:endParaRPr>
          </a:p>
        </p:txBody>
      </p:sp>
      <p:sp>
        <p:nvSpPr>
          <p:cNvPr id="17" name=" "/>
          <p:cNvSpPr txBox="1"/>
          <p:nvPr/>
        </p:nvSpPr>
        <p:spPr>
          <a:xfrm>
            <a:off x="11209452" y="4970488"/>
            <a:ext cx="1542089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rgbClr val="0048E8"/>
                </a:solidFill>
                <a:latin typeface="Avenir Book" pitchFamily="2" charset="0"/>
                <a:ea typeface="Helvetica Neue"/>
                <a:cs typeface="Helvetica Neue"/>
              </a:rPr>
              <a:t> </a:t>
            </a:r>
            <a:endParaRPr kern="0" dirty="0">
              <a:solidFill>
                <a:srgbClr val="0048E8"/>
              </a:solidFill>
              <a:latin typeface="Avenir Book" pitchFamily="2" charset="0"/>
              <a:ea typeface="Helvetica Neue"/>
              <a:cs typeface="Helvetica Neue"/>
            </a:endParaRPr>
          </a:p>
        </p:txBody>
      </p:sp>
      <p:sp>
        <p:nvSpPr>
          <p:cNvPr id="18" name="AutoShape 4"/>
          <p:cNvSpPr/>
          <p:nvPr/>
        </p:nvSpPr>
        <p:spPr>
          <a:xfrm flipV="1">
            <a:off x="6422751" y="465426"/>
            <a:ext cx="9525" cy="9337098"/>
          </a:xfrm>
          <a:prstGeom prst="line">
            <a:avLst/>
          </a:prstGeom>
          <a:ln w="9525" cap="flat">
            <a:solidFill>
              <a:srgbClr val="AAAAA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pic>
        <p:nvPicPr>
          <p:cNvPr id="1001" name="Chart 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7113003" y="2251102"/>
            <a:ext cx="9727197" cy="67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97</Words>
  <Application>Microsoft Office PowerPoint</Application>
  <PresentationFormat>Custom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Aileron Bold</vt:lpstr>
      <vt:lpstr>Calibri</vt:lpstr>
      <vt:lpstr>Arial</vt:lpstr>
      <vt:lpstr>Avenir Book</vt:lpstr>
      <vt:lpstr>Arimo</vt:lpstr>
      <vt:lpstr>Avenir Heavy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Proposal Presentation</dc:title>
  <dc:creator>Andrew Nzama</dc:creator>
  <cp:lastModifiedBy>Andrew Nzama</cp:lastModifiedBy>
  <cp:revision>49</cp:revision>
  <dcterms:created xsi:type="dcterms:W3CDTF">2025-08-02T12:08:12Z</dcterms:created>
  <dcterms:modified xsi:type="dcterms:W3CDTF">2025-11-16T19:20:43Z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4CBB0C711A6E7A09D1ED8D6869B17694_42</vt:lpwstr>
  </property>
  <property fmtid="{D5CDD505-2E9C-101B-9397-08002B2CF9AE}" pid="3" name="KSOProductBuildVer">
    <vt:lpwstr>1033-6.11.0.8608</vt:lpwstr>
  </property>
</Properties>
</file>