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BMW</c:v>
                  </c:pt>
                  <c:pt idx="1">
                    <c:v>Chevrolet</c:v>
                  </c:pt>
                  <c:pt idx="2">
                    <c:v>Ford</c:v>
                  </c:pt>
                  <c:pt idx="3">
                    <c:v>Nissan</c:v>
                  </c:pt>
                  <c:pt idx="4">
                    <c:v>Honda</c:v>
                  </c:pt>
                  <c:pt idx="5">
                    <c:v>Toyota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18.83</c:v>
                </c:pt>
                <c:pt idx="1">
                  <c:v>13.67</c:v>
                </c:pt>
                <c:pt idx="2">
                  <c:v>13.52</c:v>
                </c:pt>
                <c:pt idx="3">
                  <c:v>12.59</c:v>
                </c:pt>
                <c:pt idx="4">
                  <c:v>12.19</c:v>
                </c:pt>
                <c:pt idx="5">
                  <c:v>11.47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$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BMW 7 Series</c:v>
                  </c:pt>
                  <c:pt idx="1">
                    <c:v>BMW X3</c:v>
                  </c:pt>
                  <c:pt idx="2">
                    <c:v>BMW 3 Series</c:v>
                  </c:pt>
                  <c:pt idx="3">
                    <c:v>BMW 5 Series</c:v>
                  </c:pt>
                  <c:pt idx="4">
                    <c:v>BMW X5</c:v>
                  </c:pt>
                  <c:pt idx="5">
                    <c:v>Chevy Equinox</c:v>
                  </c:pt>
                  <c:pt idx="6">
                    <c:v>Nissan Altima</c:v>
                  </c:pt>
                  <c:pt idx="7">
                    <c:v>Honda Accord</c:v>
                  </c:pt>
                  <c:pt idx="8">
                    <c:v>Ford Escape</c:v>
                  </c:pt>
                  <c:pt idx="9">
                    <c:v>Toyota Corolla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4.36</c:v>
                </c:pt>
                <c:pt idx="1">
                  <c:v>3.81</c:v>
                </c:pt>
                <c:pt idx="2">
                  <c:v>3.65</c:v>
                </c:pt>
                <c:pt idx="3">
                  <c:v>3.65</c:v>
                </c:pt>
                <c:pt idx="4">
                  <c:v>3.36</c:v>
                </c:pt>
                <c:pt idx="5">
                  <c:v>3</c:v>
                </c:pt>
                <c:pt idx="6">
                  <c:v>2.94</c:v>
                </c:pt>
                <c:pt idx="7">
                  <c:v>2.86</c:v>
                </c:pt>
                <c:pt idx="8">
                  <c:v>2.84</c:v>
                </c:pt>
                <c:pt idx="9">
                  <c:v>2.83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Ohio</c:v>
                  </c:pt>
                  <c:pt idx="1">
                    <c:v>New York</c:v>
                  </c:pt>
                  <c:pt idx="2">
                    <c:v>Texas</c:v>
                  </c:pt>
                  <c:pt idx="3">
                    <c:v>Pennsylvania</c:v>
                  </c:pt>
                  <c:pt idx="4">
                    <c:v>Illinois</c:v>
                  </c:pt>
                  <c:pt idx="5">
                    <c:v>California</c:v>
                  </c:pt>
                  <c:pt idx="6">
                    <c:v>Florida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12.64</c:v>
                </c:pt>
                <c:pt idx="1">
                  <c:v>12.48</c:v>
                </c:pt>
                <c:pt idx="2">
                  <c:v>12.42</c:v>
                </c:pt>
                <c:pt idx="3">
                  <c:v>11.82</c:v>
                </c:pt>
                <c:pt idx="4">
                  <c:v>11.34</c:v>
                </c:pt>
                <c:pt idx="5">
                  <c:v>11.08</c:v>
                </c:pt>
                <c:pt idx="6">
                  <c:v>10.49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Florida</c:v>
                  </c:pt>
                  <c:pt idx="1">
                    <c:v>California</c:v>
                  </c:pt>
                  <c:pt idx="2">
                    <c:v>Pennsylvania</c:v>
                  </c:pt>
                  <c:pt idx="3">
                    <c:v>Ohio</c:v>
                  </c:pt>
                  <c:pt idx="4">
                    <c:v>Texas</c:v>
                  </c:pt>
                  <c:pt idx="5">
                    <c:v>Illinois</c:v>
                  </c:pt>
                  <c:pt idx="6">
                    <c:v>New York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13.34</c:v>
                </c:pt>
                <c:pt idx="1">
                  <c:v>12.28</c:v>
                </c:pt>
                <c:pt idx="2">
                  <c:v>11.93</c:v>
                </c:pt>
                <c:pt idx="3">
                  <c:v>11.64</c:v>
                </c:pt>
                <c:pt idx="4">
                  <c:v>11.29</c:v>
                </c:pt>
                <c:pt idx="5">
                  <c:v>11.09</c:v>
                </c:pt>
                <c:pt idx="6">
                  <c:v>10.71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1E2761"/>
            </a:solidFill>
            <a:ln w="508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29898</c:v>
                </c:pt>
                <c:pt idx="1">
                  <c:v>31422</c:v>
                </c:pt>
                <c:pt idx="2">
                  <c:v>33764</c:v>
                </c:pt>
                <c:pt idx="3">
                  <c:v>35606</c:v>
                </c:pt>
                <c:pt idx="4">
                  <c:v>37564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000"/>
          <c:min val="25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Mileage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48048</c:v>
                </c:pt>
                <c:pt idx="1">
                  <c:v>35972</c:v>
                </c:pt>
                <c:pt idx="2">
                  <c:v>23613</c:v>
                </c:pt>
                <c:pt idx="3">
                  <c:v>12135</c:v>
                </c:pt>
                <c:pt idx="4">
                  <c:v>2626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bubble3D val="0"/>
            <c:spPr>
              <a:solidFill>
                <a:srgbClr val="4A6FA5"/>
              </a:solidFill>
              <a:effectLst/>
            </c:spPr>
          </c:dPt>
          <c:dPt>
            <c:idx val="3"/>
            <c:bubble3D val="0"/>
            <c:spPr>
              <a:solidFill>
                <a:srgbClr val="F9E795"/>
              </a:solidFill>
              <a:effectLst/>
            </c:spPr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Sedan</c:v>
                </c:pt>
                <c:pt idx="1">
                  <c:v>Truck</c:v>
                </c:pt>
                <c:pt idx="2">
                  <c:v>Wagon</c:v>
                </c:pt>
                <c:pt idx="3">
                  <c:v>Coupe</c:v>
                </c:pt>
                <c:pt idx="4">
                  <c:v>SUV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525</c:v>
                </c:pt>
                <c:pt idx="1">
                  <c:v>500</c:v>
                </c:pt>
                <c:pt idx="2">
                  <c:v>506</c:v>
                </c:pt>
                <c:pt idx="3">
                  <c:v>468</c:v>
                </c:pt>
                <c:pt idx="4">
                  <c:v>451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ln w="508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6.9</c:v>
                </c:pt>
                <c:pt idx="1">
                  <c:v>6.42</c:v>
                </c:pt>
                <c:pt idx="2">
                  <c:v>7.14</c:v>
                </c:pt>
                <c:pt idx="3">
                  <c:v>7.36</c:v>
                </c:pt>
                <c:pt idx="4">
                  <c:v>7.71</c:v>
                </c:pt>
                <c:pt idx="5">
                  <c:v>7.23</c:v>
                </c:pt>
                <c:pt idx="6">
                  <c:v>6.74</c:v>
                </c:pt>
                <c:pt idx="7">
                  <c:v>6.7</c:v>
                </c:pt>
                <c:pt idx="8">
                  <c:v>6.48</c:v>
                </c:pt>
                <c:pt idx="9">
                  <c:v>6.26</c:v>
                </c:pt>
                <c:pt idx="10">
                  <c:v>6.38</c:v>
                </c:pt>
                <c:pt idx="11">
                  <c:v>6.96</c:v>
                </c:pt>
              </c:numCache>
            </c:numRef>
          </c:val>
          <c:smooth val="0"/>
        </c:ser>
        <c:dLbls>
          <c:numFmt formatCode="$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5"/>
          <c:min val="5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0"/>
            <a:ext cx="10972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Analysis 2024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Recommendations for the New Head of Sales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Data Analytics Team  ·  FY 2024 Transactions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5212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$82.3M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772400" y="5943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across 2,450 vehicles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5361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105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from 2024 sales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Make &amp; 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comes from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7121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529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&amp; Dealership Performance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1272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strengths and gaps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112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Price, Mileage &amp; Model Year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78561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vehicle attributes drive value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8795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1696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Type &amp; Customer Preference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44398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buyers are choosing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8280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Sales Trends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1023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across the year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50468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5486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for the Head of Sales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|  Sales Analysis 2024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1735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  ·  Jan – Dec  ·  All seven Bright Motors dealerships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$82.3M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3756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sold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$33.6K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91540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Dealerships across 7 states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BMW leads revenue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3749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(~$48.8K avg) drives 23% of total revenue from only 16% of units.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is well-distributed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0" y="43891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spread evenly across 7 makes, 7 regions, and 7 dealerships — no single point of failure.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Newer cars sell for more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5029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between model year and price; 2024 cars average $37.6K vs $29.9K for 2020.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715000"/>
            <a:ext cx="274320" cy="2743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715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Mileage drags price down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97680" y="56692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(-0.32): higher mileage units sell at clear discount.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|  Sales Analysis 2024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1735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Car Make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dominates revenue despite mid-pack volume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1323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371600"/>
            <a:ext cx="3840480" cy="493776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BMW: $18.8M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38160" y="2331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of total revenue from just 386 units (16% of volume).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3816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leaders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38160" y="3474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(432), Honda (426), Chevrolet (405) lead in units sold but at ~$29K avg price.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4572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38160" y="48463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mix should preserve BMW depth (margin) while expanding volume brands in fast-moving segments.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|  Sales Analysis 2024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1735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Models by Revenue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occupies 5 of the top 5 revenue spots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7724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371600"/>
            <a:ext cx="3200400" cy="493776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PERFORMER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7824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BMW 7 Series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77824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$4.36M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77824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units · ~$48.4K avg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78240" y="3474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CHAMPIONS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78240" y="3794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Altima  ·  100 units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Accord  ·  99 units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Corolla  ·  97 units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78240" y="5212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Always-stock these models — they convert.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|  Sales Analysis 2024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1735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&amp; Dealership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well-balanced — no region carries the business alone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Customer Region ($M)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Dealership ($M)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55448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|  Sales Analysis 2024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81735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Price, Mileage &amp; Model Year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cars command premium prices; mileage is the strongest discount lever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Price by Model Year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55448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Mileage by Model Year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55448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309360" y="534924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09360" y="5394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+0.35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309360" y="5852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Model Year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144000" y="534924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144000" y="5394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−0.32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9144000" y="5852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Mileage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|  Sales Analysis 2024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81735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Type &amp; Customer Preference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demand is strikingly even across all five body styles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4864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371600"/>
            <a:ext cx="13716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46520" y="1371600"/>
            <a:ext cx="5394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4447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$33.9K avg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869680" y="15087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525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869680" y="1874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09360" y="2331720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2331720"/>
            <a:ext cx="5394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2404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Truck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8368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$33.9K avg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69680" y="2468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869680" y="2834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3291840"/>
            <a:ext cx="137160" cy="8686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3291840"/>
            <a:ext cx="5394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3364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Wagon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58368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$33.1K avg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869680" y="3429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4A6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506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8869680" y="3794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309360" y="4251960"/>
            <a:ext cx="13716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6520" y="4251960"/>
            <a:ext cx="5394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0" y="4325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583680" y="4709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$33.9K avg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869680" y="43891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468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8869680" y="4754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309360" y="5212080"/>
            <a:ext cx="13716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46520" y="5212080"/>
            <a:ext cx="53949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0" y="52852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SUV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583680" y="5669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$33.1K avg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869680" y="53492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451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8869680" y="5715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|  Sales Analysis 2024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81735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Sales Trends — 2024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Spring/early-summer peak; modest dip late summer; December rebound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7724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371600"/>
            <a:ext cx="3200400" cy="493776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78240" y="1828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 ·  $7.71M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77824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month — drive Q2 inventory &amp; promotions.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77824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77824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 ·  $6.26M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778240" y="3931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month — opportunity for clearance events on aging stock.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7824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~24% between best and worst month — manageable seasonality.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|  Sales Analysis 2024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1735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 for the new Head of Sales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3533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Double-down on BMW depth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premium revenue engine. Ensure BMW 7 Series, X3, 3 Series &amp; 5 Series are always in stock at every dealership.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59152"/>
            <a:ext cx="640080" cy="64008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34086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the volume trio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72491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Altima, Honda Accord and Toyota Corolla are the consistent unit-movers. Run loyalty / trade-in programs around them.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46704"/>
            <a:ext cx="640080" cy="64008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467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32841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into Florida &amp; California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712464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dealerships — invest first in their staffing and digital lead-gen to compound proven performance.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334256"/>
            <a:ext cx="640080" cy="64008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342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3159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low-mileage premium tier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700016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strongly drags price (-0.32). Market certified low-mileage units as a distinct, higher-margin product line.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321808"/>
            <a:ext cx="640080" cy="64008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218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campaigns to Q2 &amp; December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68756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 May ($7.7M) and December rebound — concentrate marketing spend; plan clearance events for Sep–Oct lull.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537960"/>
            <a:ext cx="11274552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Motors  |  Sales Analysis 2024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1735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2026-04-21T07:34:54Z</dcterms:created>
  <dcterms:modified xsi:type="dcterms:W3CDTF">2026-04-21T07:34:54Z</dcterms:modified>
</cp:coreProperties>
</file>